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3e239ed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f3e239ed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3e239edd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f3e239edd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3e239edd1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f3e239edd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3e239edd1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f3e239edd1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3e239edd1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f3e239edd1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3e239edd1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3e239edd1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3e239edd1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3e239edd1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3e239edd1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3e239edd1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3e239edd1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f3e239edd1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e239edd1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3e239edd1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3e239edd1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3e239edd1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3e239edd1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3e239edd1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3e239edd1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f3e239edd1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e239edd1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f3e239edd1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3e239edd1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f3e239edd1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3e239edd1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f3e239edd1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3e239edd1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f3e239edd1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3e239edd1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3e239edd1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71d9521e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71d9521e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71d9521e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f71d9521e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71d9521e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f71d9521e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71d9521e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f71d9521e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71d9521e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71d9521e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71d9521e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71d9521e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71d9521e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71d9521e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71d9521e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71d9521e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71d9521e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71d9521e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71d9521e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71d9521e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71d9521e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71d9521e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71d9521e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71d9521e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71d9521e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71d9521e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71d9521e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f71d9521e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88525" y="1234675"/>
            <a:ext cx="71646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pt-BR"/>
              <a:t>FIBROSE:</a:t>
            </a:r>
            <a:r>
              <a:rPr lang="pt-BR"/>
              <a:t> COMO MANEJAR E TRATAR?</a:t>
            </a:r>
            <a:endParaRPr/>
          </a:p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8621825" y="1152475"/>
            <a:ext cx="21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1749475" y="1918850"/>
            <a:ext cx="654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chemeClr val="dk1"/>
                </a:solidFill>
              </a:rPr>
              <a:t>Profe: Me. Nágila Zortéa</a:t>
            </a:r>
            <a:endParaRPr sz="700"/>
          </a:p>
        </p:txBody>
      </p:sp>
      <p:sp>
        <p:nvSpPr>
          <p:cNvPr id="61" name="Google Shape;61;p14"/>
          <p:cNvSpPr txBox="1"/>
          <p:nvPr/>
        </p:nvSpPr>
        <p:spPr>
          <a:xfrm>
            <a:off x="1291225" y="2794375"/>
            <a:ext cx="923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</a:rPr>
              <a:t>@nagizortea_estetica @nzbeauty_clinic</a:t>
            </a:r>
            <a:endParaRPr sz="400"/>
          </a:p>
        </p:txBody>
      </p:sp>
      <p:pic>
        <p:nvPicPr>
          <p:cNvPr id="62" name="Google Shape;62;p14" title="FFA_3848.jpg"/>
          <p:cNvPicPr preferRelativeResize="0"/>
          <p:nvPr/>
        </p:nvPicPr>
        <p:blipFill rotWithShape="1">
          <a:blip r:embed="rId4">
            <a:alphaModFix/>
          </a:blip>
          <a:srcRect b="0" l="0" r="0" t="13540"/>
          <a:stretch/>
        </p:blipFill>
        <p:spPr>
          <a:xfrm>
            <a:off x="6754650" y="1152475"/>
            <a:ext cx="1996351" cy="234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FIBROSE: Como manejar e tratar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ChatGPT Image 14 de ago. de 2026, 15_24_46.png"/>
          <p:cNvPicPr preferRelativeResize="0"/>
          <p:nvPr/>
        </p:nvPicPr>
        <p:blipFill rotWithShape="1">
          <a:blip r:embed="rId4">
            <a:alphaModFix/>
          </a:blip>
          <a:srcRect b="12922" l="0" r="0" t="0"/>
          <a:stretch/>
        </p:blipFill>
        <p:spPr>
          <a:xfrm>
            <a:off x="0" y="0"/>
            <a:ext cx="92559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6360e525-c78e-476f-9db0-466768516ac7.png"/>
          <p:cNvPicPr preferRelativeResize="0"/>
          <p:nvPr/>
        </p:nvPicPr>
        <p:blipFill rotWithShape="1">
          <a:blip r:embed="rId4">
            <a:alphaModFix/>
          </a:blip>
          <a:srcRect b="11174" l="0" r="0" t="0"/>
          <a:stretch/>
        </p:blipFill>
        <p:spPr>
          <a:xfrm>
            <a:off x="0" y="0"/>
            <a:ext cx="9144000" cy="523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83" name="Google Shape;83;p17" title="730e566d-472f-4a47-9814-2ce879ae919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0325" y="115625"/>
            <a:ext cx="5793700" cy="386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/>
              <a:t>DO EDEMA FISIOLÓGICO AO AMBIENTE PRÓ-FIBRÓTICO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pt-BR" sz="9131">
                <a:solidFill>
                  <a:schemeClr val="dk1"/>
                </a:solidFill>
              </a:rPr>
              <a:t>Edema inicial</a:t>
            </a:r>
            <a:endParaRPr b="1" sz="9131">
              <a:solidFill>
                <a:schemeClr val="dk1"/>
              </a:solidFill>
            </a:endParaRPr>
          </a:p>
          <a:p>
            <a:pPr indent="-41703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9131">
                <a:solidFill>
                  <a:schemeClr val="dk1"/>
                </a:solidFill>
              </a:rPr>
              <a:t>Resposta fisiológica ao trauma cirúrgico</a:t>
            </a:r>
            <a:endParaRPr sz="9131">
              <a:solidFill>
                <a:schemeClr val="dk1"/>
              </a:solidFill>
            </a:endParaRPr>
          </a:p>
          <a:p>
            <a:pPr indent="-41703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9131">
                <a:solidFill>
                  <a:schemeClr val="dk1"/>
                </a:solidFill>
              </a:rPr>
              <a:t>Consequência do aumento da permeabilidade vascular</a:t>
            </a:r>
            <a:endParaRPr sz="9131">
              <a:solidFill>
                <a:schemeClr val="dk1"/>
              </a:solidFill>
            </a:endParaRPr>
          </a:p>
          <a:p>
            <a:pPr indent="-41703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9131">
                <a:solidFill>
                  <a:schemeClr val="dk1"/>
                </a:solidFill>
              </a:rPr>
              <a:t>Participa do processo normal de reparo</a:t>
            </a:r>
            <a:endParaRPr sz="913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b="1" lang="pt-B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b="1" lang="pt-BR" sz="1300"/>
              <a:t>DO EDEMA FISIOLÓGICO AO AMBIENTE PRÓ-FIBRÓTICO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6169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16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pt-BR" sz="7131">
                <a:solidFill>
                  <a:schemeClr val="dk1"/>
                </a:solidFill>
              </a:rPr>
              <a:t>Quando o edema persiste</a:t>
            </a:r>
            <a:endParaRPr b="1" sz="7131">
              <a:solidFill>
                <a:schemeClr val="dk1"/>
              </a:solidFill>
            </a:endParaRPr>
          </a:p>
          <a:p>
            <a:pPr indent="-37576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7131">
                <a:solidFill>
                  <a:schemeClr val="dk1"/>
                </a:solidFill>
              </a:rPr>
              <a:t>Estase no espaço intersticial</a:t>
            </a:r>
            <a:endParaRPr sz="7131">
              <a:solidFill>
                <a:schemeClr val="dk1"/>
              </a:solidFill>
            </a:endParaRPr>
          </a:p>
          <a:p>
            <a:pPr indent="-37576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7131">
                <a:solidFill>
                  <a:schemeClr val="dk1"/>
                </a:solidFill>
              </a:rPr>
              <a:t>Alteração das trocas metabólicas locais</a:t>
            </a:r>
            <a:endParaRPr sz="7131">
              <a:solidFill>
                <a:schemeClr val="dk1"/>
              </a:solidFill>
            </a:endParaRPr>
          </a:p>
          <a:p>
            <a:pPr indent="-37576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7131">
                <a:solidFill>
                  <a:schemeClr val="dk1"/>
                </a:solidFill>
              </a:rPr>
              <a:t>Manutenção do ambiente inflamatório</a:t>
            </a:r>
            <a:endParaRPr sz="7131">
              <a:solidFill>
                <a:schemeClr val="dk1"/>
              </a:solidFill>
            </a:endParaRPr>
          </a:p>
          <a:p>
            <a:pPr indent="-37576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7131">
                <a:solidFill>
                  <a:schemeClr val="dk1"/>
                </a:solidFill>
              </a:rPr>
              <a:t>Maior estresse tecidual</a:t>
            </a:r>
            <a:endParaRPr sz="713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b="1" lang="pt-BR" sz="1300"/>
              <a:t>DO EDEMA FISIOLÓGICO AO AMBIENTE PRÓ-FIBRÓTICO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94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pt-BR" sz="6915">
                <a:solidFill>
                  <a:schemeClr val="dk1"/>
                </a:solidFill>
              </a:rPr>
              <a:t>Persistência do estímulo inflamatório</a:t>
            </a:r>
            <a:endParaRPr b="1" sz="6915">
              <a:solidFill>
                <a:schemeClr val="dk1"/>
              </a:solidFill>
            </a:endParaRPr>
          </a:p>
          <a:p>
            <a:pPr indent="-37131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6915">
                <a:solidFill>
                  <a:schemeClr val="dk1"/>
                </a:solidFill>
              </a:rPr>
              <a:t>↑ mediadores pró-fibróticos</a:t>
            </a:r>
            <a:endParaRPr sz="6915">
              <a:solidFill>
                <a:schemeClr val="dk1"/>
              </a:solidFill>
            </a:endParaRPr>
          </a:p>
          <a:p>
            <a:pPr indent="-37131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6915">
                <a:solidFill>
                  <a:schemeClr val="dk1"/>
                </a:solidFill>
              </a:rPr>
              <a:t>↑ TGF-β1</a:t>
            </a:r>
            <a:endParaRPr sz="6915">
              <a:solidFill>
                <a:schemeClr val="dk1"/>
              </a:solidFill>
            </a:endParaRPr>
          </a:p>
          <a:p>
            <a:pPr indent="-37131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6915">
                <a:solidFill>
                  <a:schemeClr val="dk1"/>
                </a:solidFill>
              </a:rPr>
              <a:t>Ativação de fibroblastos</a:t>
            </a:r>
            <a:endParaRPr sz="6915">
              <a:solidFill>
                <a:schemeClr val="dk1"/>
              </a:solidFill>
            </a:endParaRPr>
          </a:p>
          <a:p>
            <a:pPr indent="-37131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6915">
                <a:solidFill>
                  <a:schemeClr val="dk1"/>
                </a:solidFill>
              </a:rPr>
              <a:t>Diferenciação em miofibroblastos</a:t>
            </a:r>
            <a:endParaRPr sz="691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b="1" lang="pt-BR" sz="1300"/>
              <a:t>DO EDEMA FISIOLÓGICO AO AMBIENTE PRÓ-FIBRÓTICO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217750" y="4450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55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5708">
                <a:solidFill>
                  <a:schemeClr val="dk1"/>
                </a:solidFill>
              </a:rPr>
              <a:t>Evolução desfavorável</a:t>
            </a:r>
            <a:endParaRPr b="1" sz="5708">
              <a:solidFill>
                <a:schemeClr val="dk1"/>
              </a:solidFill>
            </a:endParaRPr>
          </a:p>
          <a:p>
            <a:pPr indent="-319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5708">
                <a:solidFill>
                  <a:schemeClr val="dk1"/>
                </a:solidFill>
              </a:rPr>
              <a:t>↑ síntese de matriz extracelular</a:t>
            </a:r>
            <a:endParaRPr sz="5708">
              <a:solidFill>
                <a:schemeClr val="dk1"/>
              </a:solidFill>
            </a:endParaRPr>
          </a:p>
          <a:p>
            <a:pPr indent="-319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5708">
                <a:solidFill>
                  <a:schemeClr val="dk1"/>
                </a:solidFill>
              </a:rPr>
              <a:t>↑ deposição de colágeno</a:t>
            </a:r>
            <a:endParaRPr sz="5708">
              <a:solidFill>
                <a:schemeClr val="dk1"/>
              </a:solidFill>
            </a:endParaRPr>
          </a:p>
          <a:p>
            <a:pPr indent="-319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5708">
                <a:solidFill>
                  <a:schemeClr val="dk1"/>
                </a:solidFill>
              </a:rPr>
              <a:t>Desorganização da matriz</a:t>
            </a:r>
            <a:endParaRPr sz="5708">
              <a:solidFill>
                <a:schemeClr val="dk1"/>
              </a:solidFill>
            </a:endParaRPr>
          </a:p>
          <a:p>
            <a:pPr indent="-319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5708">
                <a:solidFill>
                  <a:schemeClr val="dk1"/>
                </a:solidFill>
              </a:rPr>
              <a:t>Maior rigidez e aderência tecidual</a:t>
            </a:r>
            <a:endParaRPr sz="5708">
              <a:solidFill>
                <a:schemeClr val="dk1"/>
              </a:solidFill>
            </a:endParaRPr>
          </a:p>
          <a:p>
            <a:pPr indent="-319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pt-BR" sz="5708">
                <a:solidFill>
                  <a:schemeClr val="dk1"/>
                </a:solidFill>
              </a:rPr>
              <a:t>Favorecimento da fibrogênese</a:t>
            </a:r>
            <a:endParaRPr b="1" sz="59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5708">
                <a:solidFill>
                  <a:schemeClr val="dk1"/>
                </a:solidFill>
              </a:rPr>
              <a:t>Edema não é fibrose.</a:t>
            </a:r>
            <a:endParaRPr b="1" sz="1152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br>
              <a:rPr b="1" lang="pt-BR" sz="5708">
                <a:solidFill>
                  <a:schemeClr val="dk1"/>
                </a:solidFill>
              </a:rPr>
            </a:br>
            <a:r>
              <a:rPr lang="pt-BR" sz="5708">
                <a:solidFill>
                  <a:schemeClr val="dk1"/>
                </a:solidFill>
              </a:rPr>
              <a:t> O alerta está na </a:t>
            </a:r>
            <a:r>
              <a:rPr b="1" lang="pt-BR" sz="5708">
                <a:solidFill>
                  <a:schemeClr val="dk1"/>
                </a:solidFill>
              </a:rPr>
              <a:t>persistência do edema associada à manutenção de um microambiente inflamatório e pró-fibrótico.</a:t>
            </a:r>
            <a:endParaRPr b="1" sz="57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55932"/>
              <a:buNone/>
            </a:pPr>
            <a:r>
              <a:rPr b="1" lang="pt-BR" sz="1967"/>
              <a:t>O TAMANHO DA CIRURGIA NÃO ANULA O TRAUMA TECIDUAL</a:t>
            </a:r>
            <a:endParaRPr b="1" sz="1967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84615"/>
              <a:buNone/>
            </a:pPr>
            <a:r>
              <a:t/>
            </a:r>
            <a:endParaRPr b="1" sz="1300"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511325" y="1067425"/>
            <a:ext cx="79461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pt-BR" sz="1588">
                <a:solidFill>
                  <a:schemeClr val="dk1"/>
                </a:solidFill>
              </a:rPr>
              <a:t>Mesmo uma </a:t>
            </a:r>
            <a:r>
              <a:rPr b="1" lang="pt-BR" sz="1588">
                <a:solidFill>
                  <a:schemeClr val="dk1"/>
                </a:solidFill>
              </a:rPr>
              <a:t>lipoaspiração de papada</a:t>
            </a:r>
            <a:r>
              <a:rPr lang="pt-BR" sz="1588">
                <a:solidFill>
                  <a:schemeClr val="dk1"/>
                </a:solidFill>
              </a:rPr>
              <a:t>, considerada um procedimento de menor extensão, desencadeia uma sequência biológica de reparo:</a:t>
            </a:r>
            <a:endParaRPr sz="1588">
              <a:solidFill>
                <a:schemeClr val="dk1"/>
              </a:solidFill>
            </a:endParaRPr>
          </a:p>
          <a:p>
            <a:pPr indent="-32940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88"/>
              <a:buChar char="●"/>
            </a:pPr>
            <a:r>
              <a:rPr b="1" lang="pt-BR" sz="1588">
                <a:solidFill>
                  <a:schemeClr val="dk1"/>
                </a:solidFill>
              </a:rPr>
              <a:t>Trauma cirúrgico</a:t>
            </a:r>
            <a:r>
              <a:rPr lang="pt-BR" sz="1588">
                <a:solidFill>
                  <a:schemeClr val="dk1"/>
                </a:solidFill>
              </a:rPr>
              <a:t> → lesão dos tecidos manipulados</a:t>
            </a:r>
            <a:endParaRPr sz="1588">
              <a:solidFill>
                <a:schemeClr val="dk1"/>
              </a:solidFill>
            </a:endParaRPr>
          </a:p>
          <a:p>
            <a:pPr indent="-3294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8"/>
              <a:buChar char="●"/>
            </a:pPr>
            <a:r>
              <a:rPr b="1" lang="pt-BR" sz="1588">
                <a:solidFill>
                  <a:schemeClr val="dk1"/>
                </a:solidFill>
              </a:rPr>
              <a:t>Resposta inflamatória</a:t>
            </a:r>
            <a:r>
              <a:rPr lang="pt-BR" sz="1588">
                <a:solidFill>
                  <a:schemeClr val="dk1"/>
                </a:solidFill>
              </a:rPr>
              <a:t> → liberação de mediadores inflamatórios</a:t>
            </a:r>
            <a:endParaRPr sz="1588">
              <a:solidFill>
                <a:schemeClr val="dk1"/>
              </a:solidFill>
            </a:endParaRPr>
          </a:p>
          <a:p>
            <a:pPr indent="-3294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8"/>
              <a:buChar char="●"/>
            </a:pPr>
            <a:r>
              <a:rPr b="1" lang="pt-BR" sz="1588">
                <a:solidFill>
                  <a:schemeClr val="dk1"/>
                </a:solidFill>
              </a:rPr>
              <a:t>Alteração vascular</a:t>
            </a:r>
            <a:r>
              <a:rPr lang="pt-BR" sz="1588">
                <a:solidFill>
                  <a:schemeClr val="dk1"/>
                </a:solidFill>
              </a:rPr>
              <a:t> → ↑ permeabilidade capilar</a:t>
            </a:r>
            <a:endParaRPr sz="1588">
              <a:solidFill>
                <a:schemeClr val="dk1"/>
              </a:solidFill>
            </a:endParaRPr>
          </a:p>
          <a:p>
            <a:pPr indent="-3294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8"/>
              <a:buChar char="●"/>
            </a:pPr>
            <a:r>
              <a:rPr b="1" lang="pt-BR" sz="1588">
                <a:solidFill>
                  <a:schemeClr val="dk1"/>
                </a:solidFill>
              </a:rPr>
              <a:t>Extravasamento de líquido</a:t>
            </a:r>
            <a:r>
              <a:rPr lang="pt-BR" sz="1588">
                <a:solidFill>
                  <a:schemeClr val="dk1"/>
                </a:solidFill>
              </a:rPr>
              <a:t> → formação de edema</a:t>
            </a:r>
            <a:endParaRPr sz="1588">
              <a:solidFill>
                <a:schemeClr val="dk1"/>
              </a:solidFill>
            </a:endParaRPr>
          </a:p>
          <a:p>
            <a:pPr indent="-3294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8"/>
              <a:buChar char="●"/>
            </a:pPr>
            <a:r>
              <a:rPr b="1" lang="pt-BR" sz="1588">
                <a:solidFill>
                  <a:schemeClr val="dk1"/>
                </a:solidFill>
              </a:rPr>
              <a:t>Ativação celular</a:t>
            </a:r>
            <a:r>
              <a:rPr lang="pt-BR" sz="1588">
                <a:solidFill>
                  <a:schemeClr val="dk1"/>
                </a:solidFill>
              </a:rPr>
              <a:t> → recrutamento de células envolvidas no reparo</a:t>
            </a:r>
            <a:endParaRPr sz="1588">
              <a:solidFill>
                <a:schemeClr val="dk1"/>
              </a:solidFill>
            </a:endParaRPr>
          </a:p>
          <a:p>
            <a:pPr indent="-3294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8"/>
              <a:buChar char="●"/>
            </a:pPr>
            <a:r>
              <a:rPr b="1" lang="pt-BR" sz="1588">
                <a:solidFill>
                  <a:schemeClr val="dk1"/>
                </a:solidFill>
              </a:rPr>
              <a:t>Ativação de fibroblastos</a:t>
            </a:r>
            <a:r>
              <a:rPr lang="pt-BR" sz="1588">
                <a:solidFill>
                  <a:schemeClr val="dk1"/>
                </a:solidFill>
              </a:rPr>
              <a:t> → síntese de matriz extracelular</a:t>
            </a:r>
            <a:endParaRPr sz="1588">
              <a:solidFill>
                <a:schemeClr val="dk1"/>
              </a:solidFill>
            </a:endParaRPr>
          </a:p>
          <a:p>
            <a:pPr indent="-3294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8"/>
              <a:buChar char="●"/>
            </a:pPr>
            <a:r>
              <a:rPr b="1" lang="pt-BR" sz="1588">
                <a:solidFill>
                  <a:schemeClr val="dk1"/>
                </a:solidFill>
              </a:rPr>
              <a:t>Remodelamento</a:t>
            </a:r>
            <a:r>
              <a:rPr lang="pt-BR" sz="1588">
                <a:solidFill>
                  <a:schemeClr val="dk1"/>
                </a:solidFill>
              </a:rPr>
              <a:t> → reorganização progressiva do tecido</a:t>
            </a:r>
            <a:endParaRPr sz="15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187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125"/>
              <a:buNone/>
            </a:pPr>
            <a:r>
              <a:t/>
            </a:r>
            <a:endParaRPr sz="112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b="1" lang="pt-BR" sz="1900"/>
              <a:t>“Pequena cirurgia” não significa pequena resposta biológica. </a:t>
            </a:r>
            <a:endParaRPr sz="3400"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37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27558"/>
              <a:buNone/>
            </a:pPr>
            <a:r>
              <a:rPr lang="pt-BR" sz="3992">
                <a:solidFill>
                  <a:schemeClr val="dk1"/>
                </a:solidFill>
              </a:rPr>
              <a:t>Lipoaspiração de papada</a:t>
            </a:r>
            <a:br>
              <a:rPr lang="pt-BR" sz="3992">
                <a:solidFill>
                  <a:schemeClr val="dk1"/>
                </a:solidFill>
              </a:rPr>
            </a:br>
            <a:r>
              <a:rPr lang="pt-BR" sz="3992">
                <a:solidFill>
                  <a:schemeClr val="dk1"/>
                </a:solidFill>
              </a:rPr>
              <a:t> ↓</a:t>
            </a:r>
            <a:br>
              <a:rPr lang="pt-BR" sz="3992">
                <a:solidFill>
                  <a:schemeClr val="dk1"/>
                </a:solidFill>
              </a:rPr>
            </a:br>
            <a:r>
              <a:rPr lang="pt-BR" sz="3992">
                <a:solidFill>
                  <a:schemeClr val="dk1"/>
                </a:solidFill>
              </a:rPr>
              <a:t> </a:t>
            </a:r>
            <a:r>
              <a:rPr b="1" lang="pt-BR" sz="3992">
                <a:solidFill>
                  <a:schemeClr val="dk1"/>
                </a:solidFill>
              </a:rPr>
              <a:t>Trauma + inflamação + edema + reparo + remodelamento</a:t>
            </a:r>
            <a:endParaRPr b="1" sz="399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27558"/>
              <a:buNone/>
            </a:pPr>
            <a:r>
              <a:rPr lang="pt-BR" sz="3992">
                <a:solidFill>
                  <a:schemeClr val="dk1"/>
                </a:solidFill>
              </a:rPr>
              <a:t>Por isso, o raciocínio clínico não deve começar pelo </a:t>
            </a:r>
            <a:r>
              <a:rPr b="1" lang="pt-BR" sz="3992">
                <a:solidFill>
                  <a:schemeClr val="dk1"/>
                </a:solidFill>
              </a:rPr>
              <a:t>tamanho da cirurgia</a:t>
            </a:r>
            <a:r>
              <a:rPr lang="pt-BR" sz="3992">
                <a:solidFill>
                  <a:schemeClr val="dk1"/>
                </a:solidFill>
              </a:rPr>
              <a:t>, mas pelo </a:t>
            </a:r>
            <a:r>
              <a:rPr b="1" lang="pt-BR" sz="3992">
                <a:solidFill>
                  <a:schemeClr val="dk1"/>
                </a:solidFill>
              </a:rPr>
              <a:t>comportamento do tecido após o trauma</a:t>
            </a:r>
            <a:r>
              <a:rPr lang="pt-BR" sz="3992">
                <a:solidFill>
                  <a:schemeClr val="dk1"/>
                </a:solidFill>
              </a:rPr>
              <a:t>.</a:t>
            </a:r>
            <a:endParaRPr sz="399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7554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b="1" lang="pt-BR" sz="1900"/>
              <a:t>A LIPOASPIRAÇÃO TAMBÉM EVOLUIU </a:t>
            </a:r>
            <a:endParaRPr sz="3400"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37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pt-BR" sz="5805">
                <a:solidFill>
                  <a:schemeClr val="dk1"/>
                </a:solidFill>
              </a:rPr>
              <a:t>A lipoaspiração contemporânea pode estar associada a diferentes tecnologias:</a:t>
            </a:r>
            <a:endParaRPr sz="5805">
              <a:solidFill>
                <a:schemeClr val="dk1"/>
              </a:solidFill>
            </a:endParaRPr>
          </a:p>
          <a:p>
            <a:pPr indent="-32074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5805">
                <a:solidFill>
                  <a:schemeClr val="dk1"/>
                </a:solidFill>
              </a:rPr>
              <a:t>Ultrassom</a:t>
            </a:r>
            <a:endParaRPr sz="5805">
              <a:solidFill>
                <a:schemeClr val="dk1"/>
              </a:solidFill>
            </a:endParaRPr>
          </a:p>
          <a:p>
            <a:pPr indent="-3207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5805">
                <a:solidFill>
                  <a:schemeClr val="dk1"/>
                </a:solidFill>
              </a:rPr>
              <a:t>Radiofrequência</a:t>
            </a:r>
            <a:endParaRPr sz="5805">
              <a:solidFill>
                <a:schemeClr val="dk1"/>
              </a:solidFill>
            </a:endParaRPr>
          </a:p>
          <a:p>
            <a:pPr indent="-3207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5805">
                <a:solidFill>
                  <a:schemeClr val="dk1"/>
                </a:solidFill>
              </a:rPr>
              <a:t>Plasma</a:t>
            </a:r>
            <a:endParaRPr sz="5805">
              <a:solidFill>
                <a:schemeClr val="dk1"/>
              </a:solidFill>
            </a:endParaRPr>
          </a:p>
          <a:p>
            <a:pPr indent="-3207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5805">
                <a:solidFill>
                  <a:schemeClr val="dk1"/>
                </a:solidFill>
              </a:rPr>
              <a:t>Vibração/movimento mecânico</a:t>
            </a:r>
            <a:endParaRPr sz="5805">
              <a:solidFill>
                <a:schemeClr val="dk1"/>
              </a:solidFill>
            </a:endParaRPr>
          </a:p>
          <a:p>
            <a:pPr indent="-3207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5805">
                <a:solidFill>
                  <a:schemeClr val="dk1"/>
                </a:solidFill>
              </a:rPr>
              <a:t>Tecnologias para retração tecidual</a:t>
            </a:r>
            <a:endParaRPr sz="5805">
              <a:solidFill>
                <a:schemeClr val="dk1"/>
              </a:solidFill>
            </a:endParaRPr>
          </a:p>
          <a:p>
            <a:pPr indent="-3207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5805">
                <a:solidFill>
                  <a:schemeClr val="dk1"/>
                </a:solidFill>
              </a:rPr>
              <a:t>Técnicas de definição corporal</a:t>
            </a:r>
            <a:endParaRPr sz="580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pt-BR" sz="6005">
                <a:solidFill>
                  <a:schemeClr val="dk1"/>
                </a:solidFill>
              </a:rPr>
              <a:t>Mais tecnologia não significa ausência de trauma.</a:t>
            </a:r>
            <a:endParaRPr b="1" sz="600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pt-BR" sz="5805">
                <a:solidFill>
                  <a:schemeClr val="dk1"/>
                </a:solidFill>
              </a:rPr>
              <a:t>Significa que o profissional do pós-operatório precisa compreender </a:t>
            </a:r>
            <a:r>
              <a:rPr b="1" lang="pt-BR" sz="5805">
                <a:solidFill>
                  <a:schemeClr val="dk1"/>
                </a:solidFill>
              </a:rPr>
              <a:t>qual tecnologia foi utilizada e qual resposta tecidual pode ser esperada.</a:t>
            </a:r>
            <a:endParaRPr b="1" sz="580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27558"/>
              <a:buNone/>
            </a:pPr>
            <a:r>
              <a:t/>
            </a:r>
            <a:endParaRPr sz="399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7554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b="1" lang="pt-BR" sz="1900"/>
              <a:t>NÃO EXISTE APENAS O TRAUMA DA CÂNULA </a:t>
            </a:r>
            <a:endParaRPr sz="3400"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9382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pt-BR" sz="5100">
                <a:solidFill>
                  <a:schemeClr val="dk1"/>
                </a:solidFill>
              </a:rPr>
              <a:t>Na lipoaspiração, o tecido pode ser submetido simultaneamente a:</a:t>
            </a:r>
            <a:endParaRPr sz="5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pt-BR" sz="5100">
                <a:solidFill>
                  <a:schemeClr val="dk1"/>
                </a:solidFill>
              </a:rPr>
              <a:t>Trauma mecânico</a:t>
            </a:r>
            <a:br>
              <a:rPr b="1" lang="pt-BR" sz="5100">
                <a:solidFill>
                  <a:schemeClr val="dk1"/>
                </a:solidFill>
              </a:rPr>
            </a:br>
            <a:r>
              <a:rPr lang="pt-BR" sz="5100">
                <a:solidFill>
                  <a:schemeClr val="dk1"/>
                </a:solidFill>
              </a:rPr>
              <a:t> → movimentação da cânula → ruptura e deslocamento do tecido adiposo → manipulação do tecido subcutâneo</a:t>
            </a:r>
            <a:endParaRPr sz="5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pt-BR" sz="5100">
                <a:solidFill>
                  <a:schemeClr val="dk1"/>
                </a:solidFill>
              </a:rPr>
              <a:t>Trauma térmico/energético</a:t>
            </a:r>
            <a:br>
              <a:rPr b="1" lang="pt-BR" sz="5100">
                <a:solidFill>
                  <a:schemeClr val="dk1"/>
                </a:solidFill>
              </a:rPr>
            </a:br>
            <a:r>
              <a:rPr lang="pt-BR" sz="5100">
                <a:solidFill>
                  <a:schemeClr val="dk1"/>
                </a:solidFill>
              </a:rPr>
              <a:t> → quando há associação de tecnologias baseadas em energia → aquecimento ou efeito energético controlado sobre diferentes estruturas</a:t>
            </a:r>
            <a:endParaRPr sz="5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pt-BR" sz="5100">
                <a:solidFill>
                  <a:schemeClr val="dk1"/>
                </a:solidFill>
              </a:rPr>
              <a:t>Trauma vascular e linfático</a:t>
            </a:r>
            <a:br>
              <a:rPr b="1" lang="pt-BR" sz="5100">
                <a:solidFill>
                  <a:schemeClr val="dk1"/>
                </a:solidFill>
              </a:rPr>
            </a:br>
            <a:r>
              <a:rPr lang="pt-BR" sz="5100">
                <a:solidFill>
                  <a:schemeClr val="dk1"/>
                </a:solidFill>
              </a:rPr>
              <a:t> → alteração transitória da microcirculação → comprometimento temporário da dinâmica linfática → extravasamento de líquidos</a:t>
            </a:r>
            <a:endParaRPr sz="5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pt-BR" sz="5100">
                <a:solidFill>
                  <a:schemeClr val="dk1"/>
                </a:solidFill>
              </a:rPr>
              <a:t>Resposta inflamatória</a:t>
            </a:r>
            <a:br>
              <a:rPr b="1" lang="pt-BR" sz="5100">
                <a:solidFill>
                  <a:schemeClr val="dk1"/>
                </a:solidFill>
              </a:rPr>
            </a:br>
            <a:r>
              <a:rPr lang="pt-BR" sz="5100">
                <a:solidFill>
                  <a:schemeClr val="dk1"/>
                </a:solidFill>
              </a:rPr>
              <a:t> → edema → recrutamento celular → mediadores inflamatórios → início do reparo</a:t>
            </a:r>
            <a:endParaRPr sz="5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580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27558"/>
              <a:buNone/>
            </a:pPr>
            <a:r>
              <a:t/>
            </a:r>
            <a:endParaRPr sz="399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7554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239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57895"/>
              <a:buNone/>
            </a:pPr>
            <a:r>
              <a:rPr b="1" lang="pt-BR" sz="1900"/>
              <a:t>Antes mesmo da cânula aspirar a gordura, aquele tecido já recebeu um volume de solução infiltrativa. </a:t>
            </a:r>
            <a:endParaRPr sz="3400"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37875"/>
            <a:ext cx="8520600" cy="13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pt-BR" sz="9900">
                <a:solidFill>
                  <a:schemeClr val="dk1"/>
                </a:solidFill>
              </a:rPr>
              <a:t>INFILTRAÇÃO → CÂNULA → ASPIRAÇÃO → ± ENERGIA ASSOCIADA → RESPOSTA INFLAMATÓRIA → EDEMA → REPARO TECIDUAL </a:t>
            </a:r>
            <a:endParaRPr sz="9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580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27558"/>
              <a:buNone/>
            </a:pPr>
            <a:r>
              <a:t/>
            </a:r>
            <a:endParaRPr sz="399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7554">
              <a:solidFill>
                <a:schemeClr val="dk1"/>
              </a:solidFill>
            </a:endParaRPr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5825" y="2212225"/>
            <a:ext cx="1849550" cy="17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239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32353"/>
              <a:buNone/>
            </a:pPr>
            <a:r>
              <a:rPr lang="pt-BR" sz="3400"/>
              <a:t> </a:t>
            </a:r>
            <a:endParaRPr sz="3400"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171300" y="445025"/>
            <a:ext cx="6595200" cy="3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pt-BR" sz="6500">
                <a:solidFill>
                  <a:schemeClr val="dk1"/>
                </a:solidFill>
              </a:rPr>
              <a:t>SERÁ QUE O DRENO, SOZINHO, CONSEGUE DAR CONTA DE TODO ESSE LÍQUIDO?</a:t>
            </a:r>
            <a:endParaRPr b="1" sz="6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pt-BR" sz="6300">
                <a:solidFill>
                  <a:schemeClr val="dk1"/>
                </a:solidFill>
              </a:rPr>
              <a:t>O dreno coleta o líquido que </a:t>
            </a:r>
            <a:r>
              <a:rPr b="1" lang="pt-BR" sz="6300">
                <a:solidFill>
                  <a:schemeClr val="dk1"/>
                </a:solidFill>
              </a:rPr>
              <a:t>alcança o espaço drenado</a:t>
            </a:r>
            <a:r>
              <a:rPr lang="pt-BR" sz="6300">
                <a:solidFill>
                  <a:schemeClr val="dk1"/>
                </a:solidFill>
              </a:rPr>
              <a:t>.</a:t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pt-BR" sz="6300">
                <a:solidFill>
                  <a:schemeClr val="dk1"/>
                </a:solidFill>
              </a:rPr>
              <a:t>Mas e o líquido que permanece no interstício?</a:t>
            </a:r>
            <a:endParaRPr b="1"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pt-BR" sz="6300">
                <a:solidFill>
                  <a:schemeClr val="dk1"/>
                </a:solidFill>
              </a:rPr>
              <a:t>E quando as vias linfáticas foram temporariamente comprometidas pelo trauma cirúrgico?</a:t>
            </a:r>
            <a:endParaRPr b="1"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pt-BR" sz="6300">
                <a:solidFill>
                  <a:schemeClr val="dk1"/>
                </a:solidFill>
              </a:rPr>
              <a:t>Como esse tecido vai recuperar sua dinâmica de fluidos?</a:t>
            </a:r>
            <a:endParaRPr b="1"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580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27558"/>
              <a:buNone/>
            </a:pPr>
            <a:r>
              <a:t/>
            </a:r>
            <a:endParaRPr sz="399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7554">
              <a:solidFill>
                <a:schemeClr val="dk1"/>
              </a:solidFill>
            </a:endParaRPr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775" y="2165250"/>
            <a:ext cx="1849550" cy="17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445025"/>
            <a:ext cx="8239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32353"/>
              <a:buNone/>
            </a:pPr>
            <a:r>
              <a:rPr lang="pt-BR" sz="3400"/>
              <a:t> </a:t>
            </a:r>
            <a:endParaRPr sz="3400"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171300" y="445025"/>
            <a:ext cx="7160100" cy="3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pt-BR" sz="14808">
                <a:solidFill>
                  <a:schemeClr val="dk1"/>
                </a:solidFill>
              </a:rPr>
              <a:t>O DRENO DRENA UMA CAVIDADE.</a:t>
            </a:r>
            <a:endParaRPr b="1" sz="148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48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pt-BR" sz="14808">
                <a:solidFill>
                  <a:schemeClr val="dk1"/>
                </a:solidFill>
              </a:rPr>
              <a:t>O SISTEMA LINFÁTICO DRENA UM TECIDO. </a:t>
            </a:r>
            <a:endParaRPr b="1" sz="148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580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27558"/>
              <a:buNone/>
            </a:pPr>
            <a:r>
              <a:t/>
            </a:r>
            <a:endParaRPr sz="399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7554">
              <a:solidFill>
                <a:schemeClr val="dk1"/>
              </a:solidFill>
            </a:endParaRPr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550" y="398050"/>
            <a:ext cx="1408100" cy="135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1300" y="1808825"/>
            <a:ext cx="1607575" cy="222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239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32353"/>
              <a:buNone/>
            </a:pPr>
            <a:r>
              <a:rPr lang="pt-BR" sz="3400"/>
              <a:t> </a:t>
            </a:r>
            <a:endParaRPr sz="3400"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171300" y="445025"/>
            <a:ext cx="7160100" cy="3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b="1" sz="148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9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580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27558"/>
              <a:buNone/>
            </a:pPr>
            <a:r>
              <a:t/>
            </a:r>
            <a:endParaRPr sz="399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7554">
              <a:solidFill>
                <a:schemeClr val="dk1"/>
              </a:solidFill>
            </a:endParaRPr>
          </a:p>
        </p:txBody>
      </p:sp>
      <p:pic>
        <p:nvPicPr>
          <p:cNvPr id="160" name="Google Shape;160;p29" title="ChatGPT Image 14 de ago. de 2026, 18_43_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1050" y="173400"/>
            <a:ext cx="5600348" cy="3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45025"/>
            <a:ext cx="8239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32353"/>
              <a:buNone/>
            </a:pPr>
            <a:r>
              <a:rPr lang="pt-BR" sz="3400"/>
              <a:t> </a:t>
            </a:r>
            <a:endParaRPr sz="3400"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171300" y="445025"/>
            <a:ext cx="8544600" cy="3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275"/>
              <a:buNone/>
            </a:pPr>
            <a:r>
              <a:rPr b="1" lang="pt-BR" sz="2975">
                <a:solidFill>
                  <a:schemeClr val="dk1"/>
                </a:solidFill>
              </a:rPr>
              <a:t>MAS A DRENAGEM “FORMA” FIBROSE?</a:t>
            </a:r>
            <a:endParaRPr b="1" sz="29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pt-BR" sz="2675">
                <a:solidFill>
                  <a:schemeClr val="dk1"/>
                </a:solidFill>
              </a:rPr>
              <a:t>A fibrose está relacionada a: </a:t>
            </a:r>
            <a:r>
              <a:rPr b="1" lang="pt-BR" sz="2675">
                <a:solidFill>
                  <a:schemeClr val="dk1"/>
                </a:solidFill>
              </a:rPr>
              <a:t>inflamação persistente + mediadores pró-fibróticos + ativação fibroblástica + miofibroblastos </a:t>
            </a:r>
            <a:r>
              <a:rPr lang="pt-BR" sz="2675">
                <a:solidFill>
                  <a:schemeClr val="dk1"/>
                </a:solidFill>
              </a:rPr>
              <a:t>+ </a:t>
            </a:r>
            <a:r>
              <a:rPr b="1" lang="pt-BR" sz="2675">
                <a:solidFill>
                  <a:schemeClr val="dk1"/>
                </a:solidFill>
              </a:rPr>
              <a:t>produção excessiva de matriz extracelular + desorganização do colágeno</a:t>
            </a:r>
            <a:endParaRPr b="1" sz="26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20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92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7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5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9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468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445025"/>
            <a:ext cx="8239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32353"/>
              <a:buNone/>
            </a:pPr>
            <a:r>
              <a:rPr lang="pt-BR" sz="3400"/>
              <a:t> </a:t>
            </a:r>
            <a:endParaRPr sz="3400"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171300" y="445025"/>
            <a:ext cx="8544600" cy="3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21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pt-BR" sz="2225">
                <a:solidFill>
                  <a:schemeClr val="dk1"/>
                </a:solidFill>
              </a:rPr>
              <a:t>Onde a drenagem linfática entra nessa cascata como agente fibrogênico?</a:t>
            </a:r>
            <a:endParaRPr b="1" sz="21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pt-BR" sz="2175">
                <a:solidFill>
                  <a:schemeClr val="dk1"/>
                </a:solidFill>
              </a:rPr>
              <a:t>Ao contrário, estudos em pacientes submetidos a lipoaspiração e lipoabdominoplastia utilizaram a drenagem linfática como intervenção terapêutica e encontraram </a:t>
            </a:r>
            <a:r>
              <a:rPr b="1" lang="pt-BR" sz="2175">
                <a:solidFill>
                  <a:schemeClr val="dk1"/>
                </a:solidFill>
              </a:rPr>
              <a:t>redução de edema e de fibrose tecidual</a:t>
            </a:r>
            <a:r>
              <a:rPr lang="pt-BR" sz="2175">
                <a:solidFill>
                  <a:schemeClr val="dk1"/>
                </a:solidFill>
              </a:rPr>
              <a:t>, embora muitas vezes associada a outros recursos, como o ultrassom terapêutico.</a:t>
            </a:r>
            <a:endParaRPr sz="21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29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20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92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7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5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9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468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239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32353"/>
              <a:buNone/>
            </a:pPr>
            <a:r>
              <a:rPr lang="pt-BR" sz="3400"/>
              <a:t> </a:t>
            </a:r>
            <a:endParaRPr sz="3400"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2245300" y="3585675"/>
            <a:ext cx="74586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https://pmc.ncbi.nlm.nih.gov/articles/PMC2755111/</a:t>
            </a:r>
            <a:endParaRPr/>
          </a:p>
        </p:txBody>
      </p:sp>
      <p:pic>
        <p:nvPicPr>
          <p:cNvPr id="179" name="Google Shape;17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3050" y="265100"/>
            <a:ext cx="5655651" cy="337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239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32353"/>
              <a:buNone/>
            </a:pPr>
            <a:r>
              <a:rPr lang="pt-BR" sz="3400"/>
              <a:t> </a:t>
            </a:r>
            <a:endParaRPr sz="3400"/>
          </a:p>
        </p:txBody>
      </p:sp>
      <p:sp>
        <p:nvSpPr>
          <p:cNvPr id="185" name="Google Shape;185;p33"/>
          <p:cNvSpPr txBox="1"/>
          <p:nvPr/>
        </p:nvSpPr>
        <p:spPr>
          <a:xfrm>
            <a:off x="575400" y="445025"/>
            <a:ext cx="63438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dk1"/>
                </a:solidFill>
              </a:rPr>
              <a:t>COMO IDENTIFICAR A FIBROSE?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chemeClr val="dk1"/>
                </a:solidFill>
              </a:rPr>
              <a:t>1. OLHAR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Irregularidades do relevo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Alterações do contorno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Assimetrias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Depressões ou retrações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Alterações que aparecem ou se acentuam com determinadas posições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45025"/>
            <a:ext cx="8239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32353"/>
              <a:buNone/>
            </a:pPr>
            <a:r>
              <a:rPr lang="pt-BR" sz="3400"/>
              <a:t> </a:t>
            </a:r>
            <a:endParaRPr sz="3400"/>
          </a:p>
        </p:txBody>
      </p:sp>
      <p:sp>
        <p:nvSpPr>
          <p:cNvPr id="191" name="Google Shape;191;p34"/>
          <p:cNvSpPr txBox="1"/>
          <p:nvPr/>
        </p:nvSpPr>
        <p:spPr>
          <a:xfrm>
            <a:off x="575400" y="445025"/>
            <a:ext cx="63438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dk1"/>
                </a:solidFill>
              </a:rPr>
              <a:t>COMO IDENTIFICAR A FIBROSE?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chemeClr val="dk1"/>
                </a:solidFill>
              </a:rPr>
              <a:t>2. PALPAR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Endurecimento localizado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Placas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Nódulos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Cordões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Redução do deslizamento entre planos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Aderências</a:t>
            </a:r>
            <a:endParaRPr b="1" sz="3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239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32353"/>
              <a:buNone/>
            </a:pPr>
            <a:r>
              <a:rPr lang="pt-BR" sz="3400"/>
              <a:t> </a:t>
            </a:r>
            <a:endParaRPr sz="3400"/>
          </a:p>
        </p:txBody>
      </p:sp>
      <p:sp>
        <p:nvSpPr>
          <p:cNvPr id="197" name="Google Shape;197;p35"/>
          <p:cNvSpPr txBox="1"/>
          <p:nvPr/>
        </p:nvSpPr>
        <p:spPr>
          <a:xfrm>
            <a:off x="575400" y="445025"/>
            <a:ext cx="63438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dk1"/>
                </a:solidFill>
              </a:rPr>
              <a:t>COMO IDENTIFICAR A FIBROSE?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chemeClr val="dk1"/>
                </a:solidFill>
              </a:rPr>
              <a:t>3. MOVIMENTAR</a:t>
            </a:r>
            <a:endParaRPr b="1"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pt-BR" sz="2700">
                <a:solidFill>
                  <a:schemeClr val="dk1"/>
                </a:solidFill>
              </a:rPr>
              <a:t>Menor mobilidade tecidual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pt-BR" sz="2700">
                <a:solidFill>
                  <a:schemeClr val="dk1"/>
                </a:solidFill>
              </a:rPr>
              <a:t>Restrição do deslizamento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pt-BR" sz="2700">
                <a:solidFill>
                  <a:schemeClr val="dk1"/>
                </a:solidFill>
              </a:rPr>
              <a:t>Repuxamento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pt-BR" sz="2700">
                <a:solidFill>
                  <a:schemeClr val="dk1"/>
                </a:solidFill>
              </a:rPr>
              <a:t>Alteração da maleabilidade</a:t>
            </a:r>
            <a:endParaRPr b="1" sz="3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00" y="445025"/>
            <a:ext cx="8239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32353"/>
              <a:buNone/>
            </a:pPr>
            <a:r>
              <a:rPr lang="pt-BR" sz="3400"/>
              <a:t> </a:t>
            </a:r>
            <a:endParaRPr sz="3400"/>
          </a:p>
        </p:txBody>
      </p:sp>
      <p:sp>
        <p:nvSpPr>
          <p:cNvPr id="203" name="Google Shape;203;p36"/>
          <p:cNvSpPr txBox="1"/>
          <p:nvPr/>
        </p:nvSpPr>
        <p:spPr>
          <a:xfrm>
            <a:off x="575400" y="445025"/>
            <a:ext cx="6343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dk1"/>
                </a:solidFill>
              </a:rPr>
              <a:t>COMO IDENTIFICAR A FIBROSE?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4. OUVIR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Dor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Desconforto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Sensação de tecido “preso”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Repuxamento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Percepção de irregularidade</a:t>
            </a:r>
            <a:endParaRPr b="1"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USO DE ULTRASSOM NA FIBROSE</a:t>
            </a:r>
            <a:endParaRPr b="1"/>
          </a:p>
        </p:txBody>
      </p:sp>
      <p:sp>
        <p:nvSpPr>
          <p:cNvPr id="209" name="Google Shape;20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</a:rPr>
              <a:t>Ultrassom terapêutico: Energia mecânica → Micromovimentação molecular + </a:t>
            </a:r>
            <a:r>
              <a:rPr i="1" lang="pt-BR" sz="2800">
                <a:solidFill>
                  <a:schemeClr val="dk1"/>
                </a:solidFill>
              </a:rPr>
              <a:t>acoustic streaming</a:t>
            </a:r>
            <a:r>
              <a:rPr lang="pt-BR" sz="2800">
                <a:solidFill>
                  <a:schemeClr val="dk1"/>
                </a:solidFill>
              </a:rPr>
              <a:t> → Movimentação de fluidos → Alteração viscoelástica → ↓ Viscosidade → ↑ Maleabilidade e extensibilidade tecidual </a:t>
            </a:r>
            <a:endParaRPr sz="3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DRENAGEM X FIBROSE</a:t>
            </a:r>
            <a:endParaRPr b="1"/>
          </a:p>
        </p:txBody>
      </p:sp>
      <p:sp>
        <p:nvSpPr>
          <p:cNvPr id="215" name="Google Shape;215;p38"/>
          <p:cNvSpPr txBox="1"/>
          <p:nvPr>
            <p:ph idx="1" type="body"/>
          </p:nvPr>
        </p:nvSpPr>
        <p:spPr>
          <a:xfrm>
            <a:off x="311700" y="947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749"/>
              <a:buFont typeface="Arial"/>
              <a:buNone/>
            </a:pPr>
            <a:r>
              <a:rPr b="1" lang="pt-BR" sz="2458">
                <a:solidFill>
                  <a:schemeClr val="dk1"/>
                </a:solidFill>
              </a:rPr>
              <a:t>↓ Estase tecidual → Melhor dinâmica de fluidos → Menor persistência do ambiente edematoso/inflamatório → Condições mais favoráveis ao reparo tecidual;</a:t>
            </a:r>
            <a:endParaRPr b="1" sz="265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458">
                <a:solidFill>
                  <a:schemeClr val="dk1"/>
                </a:solidFill>
              </a:rPr>
              <a:t>Drenagem linfática não “quebra” fibrose → atua principalmente sobre o componente edematoso e a dinâmica dos fluidos.</a:t>
            </a:r>
            <a:endParaRPr b="1" sz="245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749"/>
              <a:buFont typeface="Arial"/>
              <a:buNone/>
            </a:pPr>
            <a:r>
              <a:t/>
            </a:r>
            <a:endParaRPr b="1" sz="2458">
              <a:solidFill>
                <a:schemeClr val="dk1"/>
              </a:solidFill>
            </a:endParaRPr>
          </a:p>
          <a:p>
            <a:pPr indent="0" lvl="0" marL="381000" marR="38100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454"/>
              <a:buFont typeface="Arial"/>
              <a:buNone/>
            </a:pPr>
            <a:r>
              <a:rPr b="1" lang="pt-BR" sz="4007">
                <a:solidFill>
                  <a:schemeClr val="dk1"/>
                </a:solidFill>
              </a:rPr>
              <a:t>REDUZIR EDEMA ≠ TRATAR DIRETAMENTE A MATRIZ FIBRÓTICA</a:t>
            </a:r>
            <a:endParaRPr b="1" sz="400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MOBILIZAÇÃO TECIDUAL × FIBROSE </a:t>
            </a:r>
            <a:endParaRPr b="1"/>
          </a:p>
        </p:txBody>
      </p:sp>
      <p:sp>
        <p:nvSpPr>
          <p:cNvPr id="221" name="Google Shape;221;p39"/>
          <p:cNvSpPr txBox="1"/>
          <p:nvPr>
            <p:ph idx="1" type="body"/>
          </p:nvPr>
        </p:nvSpPr>
        <p:spPr>
          <a:xfrm>
            <a:off x="311700" y="947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4900">
                <a:solidFill>
                  <a:schemeClr val="dk1"/>
                </a:solidFill>
              </a:rPr>
              <a:t>Fibrose → ↑ Deposição e desorganização de colágeno → ↑ Rigidez tecidual → ↓ Deslizamento entre os planos → Mobilização mecânica controlada → Estímulo à mecanotransdução → ↑ Mobilidade tecidual → Favorecimento do remodelamento da matriz extracelular</a:t>
            </a:r>
            <a:endParaRPr sz="4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4900">
                <a:solidFill>
                  <a:schemeClr val="dk1"/>
                </a:solidFill>
              </a:rPr>
              <a:t>Estímulo mecânico → Deformação da matriz extracelular → Sinalização celular → Resposta dos fibroblastos → Remodelamento do colágeno → Melhora das propriedades mecânicas do tecido</a:t>
            </a:r>
            <a:endParaRPr b="1" sz="4900">
              <a:solidFill>
                <a:schemeClr val="dk1"/>
              </a:solidFill>
            </a:endParaRPr>
          </a:p>
          <a:p>
            <a:pPr indent="0" lvl="0" marL="381000" marR="3810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4900">
                <a:solidFill>
                  <a:schemeClr val="dk1"/>
                </a:solidFill>
              </a:rPr>
              <a:t>Fibrose não precisa de força. Precisa de estímulo mecânico adequado ao momento biológico do tecido.</a:t>
            </a:r>
            <a:endParaRPr sz="4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4900">
                <a:solidFill>
                  <a:schemeClr val="dk1"/>
                </a:solidFill>
              </a:rPr>
              <a:t>SE MAIS FORÇA SIGNIFICASSE MENOS FIBROSE...</a:t>
            </a:r>
            <a:endParaRPr b="1" sz="4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4900">
                <a:solidFill>
                  <a:schemeClr val="dk1"/>
                </a:solidFill>
              </a:rPr>
              <a:t>quanto mais agressiva a massagem, melhor seria o resultado?   Não.</a:t>
            </a:r>
            <a:endParaRPr b="1" sz="4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4900">
                <a:solidFill>
                  <a:schemeClr val="dk1"/>
                </a:solidFill>
              </a:rPr>
              <a:t>Trauma mecânico excessivo → nova agressão tecidual → resposta inflamatória → potencial prejuízo ao reparo</a:t>
            </a:r>
            <a:endParaRPr b="1" sz="4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4900">
                <a:solidFill>
                  <a:schemeClr val="dk1"/>
                </a:solidFill>
                <a:highlight>
                  <a:schemeClr val="lt1"/>
                </a:highlight>
              </a:rPr>
              <a:t>O objetivo não é traumatizar novamente um tecido que já está tentando cicatrizar.</a:t>
            </a:r>
            <a:endParaRPr b="1" sz="4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381000" marR="3810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FOTOBIOMODULAÇÃO × FIBROSE </a:t>
            </a:r>
            <a:endParaRPr b="1"/>
          </a:p>
        </p:txBody>
      </p:sp>
      <p:sp>
        <p:nvSpPr>
          <p:cNvPr id="227" name="Google Shape;227;p40"/>
          <p:cNvSpPr txBox="1"/>
          <p:nvPr>
            <p:ph idx="1" type="body"/>
          </p:nvPr>
        </p:nvSpPr>
        <p:spPr>
          <a:xfrm>
            <a:off x="311700" y="1123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6133">
                <a:solidFill>
                  <a:schemeClr val="dk1"/>
                </a:solidFill>
              </a:rPr>
              <a:t>Fotobiomodulação → Modulação da inflamação → Modulação de TGF-β e vias pró-fibróticas → ↓ ativação/persistência de miofibroblastos → Modulação do depósito de colágeno → Remodelamento da matriz extracelular</a:t>
            </a:r>
            <a:endParaRPr b="1" sz="613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13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6133">
                <a:solidFill>
                  <a:schemeClr val="dk1"/>
                </a:solidFill>
              </a:rPr>
              <a:t>NÃO É “LASER PARA FIBROSE”. É FOTOBIOMODULAÇÃO PARA A RESPOSTA BIOLÓGICA DAQUELE TECIDO. </a:t>
            </a:r>
            <a:endParaRPr b="1" sz="6133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4900">
              <a:solidFill>
                <a:schemeClr val="dk1"/>
              </a:solidFill>
            </a:endParaRPr>
          </a:p>
          <a:p>
            <a:pPr indent="0" lvl="0" marL="381000" marR="3810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ÓRTESES × FIBROSE </a:t>
            </a:r>
            <a:r>
              <a:rPr b="1" lang="pt-BR"/>
              <a:t> </a:t>
            </a:r>
            <a:endParaRPr b="1"/>
          </a:p>
        </p:txBody>
      </p:sp>
      <p:sp>
        <p:nvSpPr>
          <p:cNvPr id="233" name="Google Shape;233;p41"/>
          <p:cNvSpPr txBox="1"/>
          <p:nvPr>
            <p:ph idx="1" type="body"/>
          </p:nvPr>
        </p:nvSpPr>
        <p:spPr>
          <a:xfrm>
            <a:off x="311700" y="1123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7528">
                <a:solidFill>
                  <a:schemeClr val="dk1"/>
                </a:solidFill>
              </a:rPr>
              <a:t>Fibrose/irregularidade → Alteração da mobilidade e do contorno → Pressão mecânica controlada → Estímulo mecânico sustentado → Influência sobre as propriedades do tecido cicatricial → Auxílio no remodelamento</a:t>
            </a:r>
            <a:endParaRPr b="1" sz="752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7728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7528">
                <a:solidFill>
                  <a:schemeClr val="dk1"/>
                </a:solidFill>
              </a:rPr>
              <a:t>Órtese não é para “amassar” fibrose. É para aplicar um estímulo mecânico controlado sobre um tecido em remodelamento.</a:t>
            </a:r>
            <a:endParaRPr b="1" sz="752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133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4900">
              <a:solidFill>
                <a:schemeClr val="dk1"/>
              </a:solidFill>
            </a:endParaRPr>
          </a:p>
          <a:p>
            <a:pPr indent="0" lvl="0" marL="381000" marR="3810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TAPING × FIBROSE </a:t>
            </a:r>
            <a:r>
              <a:rPr b="1" lang="pt-BR"/>
              <a:t>  </a:t>
            </a:r>
            <a:endParaRPr b="1"/>
          </a:p>
        </p:txBody>
      </p:sp>
      <p:sp>
        <p:nvSpPr>
          <p:cNvPr id="239" name="Google Shape;239;p42"/>
          <p:cNvSpPr txBox="1"/>
          <p:nvPr>
            <p:ph idx="1" type="body"/>
          </p:nvPr>
        </p:nvSpPr>
        <p:spPr>
          <a:xfrm>
            <a:off x="311700" y="1123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7438">
                <a:solidFill>
                  <a:schemeClr val="dk1"/>
                </a:solidFill>
              </a:rPr>
              <a:t>Fibrose : ↓ Mobilidade tecidual + aderências → Taping como recurso complementar → Estímulo mecânico cutâneo sustentado → Auxílio na mobilidade tecidual → Associação a outras estratégias de remodelamento</a:t>
            </a:r>
            <a:endParaRPr b="1" sz="743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7638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7438">
                <a:solidFill>
                  <a:schemeClr val="dk1"/>
                </a:solidFill>
              </a:rPr>
              <a:t>Taping não “quebra” fibrose. Seu maior potencial está em modificar o ambiente mecânico e auxiliar o manejo do edema e do tecido durante o reparo.</a:t>
            </a:r>
            <a:endParaRPr b="1" sz="743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602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752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133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4900">
              <a:solidFill>
                <a:schemeClr val="dk1"/>
              </a:solidFill>
            </a:endParaRPr>
          </a:p>
          <a:p>
            <a:pPr indent="0" lvl="0" marL="381000" marR="3810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TAPING × FIBROSE   </a:t>
            </a:r>
            <a:endParaRPr b="1"/>
          </a:p>
        </p:txBody>
      </p:sp>
      <p:sp>
        <p:nvSpPr>
          <p:cNvPr id="245" name="Google Shape;245;p43"/>
          <p:cNvSpPr txBox="1"/>
          <p:nvPr>
            <p:ph idx="1" type="body"/>
          </p:nvPr>
        </p:nvSpPr>
        <p:spPr>
          <a:xfrm>
            <a:off x="311700" y="1123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1700">
                <a:solidFill>
                  <a:schemeClr val="dk1"/>
                </a:solidFill>
              </a:rPr>
              <a:t>E UM ALERTA IMPORTANTE</a:t>
            </a:r>
            <a:endParaRPr b="1" sz="1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500">
                <a:solidFill>
                  <a:schemeClr val="dk1"/>
                </a:solidFill>
              </a:rPr>
              <a:t>Mais tensão ≠ mais resultado</a:t>
            </a:r>
            <a:endParaRPr b="1" sz="1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500">
                <a:solidFill>
                  <a:schemeClr val="dk1"/>
                </a:solidFill>
              </a:rPr>
              <a:t>Tensão excessiva → ↑ pressão/tração cutânea → irritação ou lesão da pele → novo estímulo inflamatório → potencial prejuízo ao reparo</a:t>
            </a:r>
            <a:endParaRPr b="1" sz="115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743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602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752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133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4900">
              <a:solidFill>
                <a:schemeClr val="dk1"/>
              </a:solidFill>
            </a:endParaRPr>
          </a:p>
          <a:p>
            <a:pPr indent="0" lvl="0" marL="381000" marR="3810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44" title="ChatGPT Image 14 de ago. de 2026, 19_50_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7950" y="232525"/>
            <a:ext cx="3964499" cy="396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45" title="ChatGPT Image 14 de ago. de 2026, 19_54_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3950" y="0"/>
            <a:ext cx="92379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6"/>
          <p:cNvSpPr txBox="1"/>
          <p:nvPr>
            <p:ph type="title"/>
          </p:nvPr>
        </p:nvSpPr>
        <p:spPr>
          <a:xfrm>
            <a:off x="448650" y="1116475"/>
            <a:ext cx="63060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b="1" lang="pt-BR" sz="4900"/>
              <a:t>MUITO OBRIGADA!</a:t>
            </a:r>
            <a:endParaRPr sz="4900"/>
          </a:p>
        </p:txBody>
      </p:sp>
      <p:sp>
        <p:nvSpPr>
          <p:cNvPr id="264" name="Google Shape;264;p46"/>
          <p:cNvSpPr txBox="1"/>
          <p:nvPr>
            <p:ph idx="1" type="body"/>
          </p:nvPr>
        </p:nvSpPr>
        <p:spPr>
          <a:xfrm>
            <a:off x="8621825" y="1152475"/>
            <a:ext cx="21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265" name="Google Shape;265;p46"/>
          <p:cNvSpPr txBox="1"/>
          <p:nvPr/>
        </p:nvSpPr>
        <p:spPr>
          <a:xfrm>
            <a:off x="1901300" y="2312125"/>
            <a:ext cx="654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Profe: Me. Nágila Zortéa</a:t>
            </a:r>
            <a:endParaRPr sz="100"/>
          </a:p>
        </p:txBody>
      </p:sp>
      <p:sp>
        <p:nvSpPr>
          <p:cNvPr id="266" name="Google Shape;266;p46"/>
          <p:cNvSpPr txBox="1"/>
          <p:nvPr/>
        </p:nvSpPr>
        <p:spPr>
          <a:xfrm>
            <a:off x="1291225" y="2794375"/>
            <a:ext cx="923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</a:rPr>
              <a:t>@nagizortea_estetica @nzbeauty_clinic</a:t>
            </a:r>
            <a:endParaRPr sz="400"/>
          </a:p>
        </p:txBody>
      </p:sp>
      <p:pic>
        <p:nvPicPr>
          <p:cNvPr id="267" name="Google Shape;267;p46" title="FFA_3848.jpg"/>
          <p:cNvPicPr preferRelativeResize="0"/>
          <p:nvPr/>
        </p:nvPicPr>
        <p:blipFill rotWithShape="1">
          <a:blip r:embed="rId4">
            <a:alphaModFix/>
          </a:blip>
          <a:srcRect b="0" l="0" r="0" t="13540"/>
          <a:stretch/>
        </p:blipFill>
        <p:spPr>
          <a:xfrm>
            <a:off x="6754650" y="1152475"/>
            <a:ext cx="1996351" cy="234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